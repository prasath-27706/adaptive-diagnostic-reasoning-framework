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6487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482207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721626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428012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295481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70386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027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840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359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ADEDB5-5873-71B7-33E8-B4AC1A70A1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251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992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946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2CD87B-BC11-1DE6-3A7D-EDC86517EB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472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1678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082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1E8156-B5FA-A00E-88BF-C8EF0134C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018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586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785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A817FA-CB32-B70B-A9B3-26A6E77F7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39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883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307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D85AC-3238-3880-8B9D-C88783E034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540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579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286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35CC01-BFD0-CE00-ABFB-592E6C3F0E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328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3138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8888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13B8DE-1B67-CE92-DACE-B6E5872858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613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7034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89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300B67-B219-F945-C04B-CAEF8BD87D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537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052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13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E6C798-FF4C-D302-FD39-C9CED4A102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425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678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021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27AC28-1F73-53BF-E99A-BF25C052CF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926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8074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289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F523DF-AD43-F165-5ED8-E517CE6211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157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3422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10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E1B4BA-26DD-678C-D61D-A734CCB5B5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07015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727931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497189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208557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73200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1549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42345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10031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996185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57147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3108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81457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03175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114173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92315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2677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776216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294788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29361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356292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77242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6618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67756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43471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724745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256122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850735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2637314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207418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0691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31518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2340622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989962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1537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747185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148216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11764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227598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057366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928518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700990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98726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97374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617307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68397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50646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067581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5896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5347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740895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21137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074636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87130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9728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852951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96249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13689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9222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59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09033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86818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83546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03793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290908" name="Rectangle 1"/>
          <p:cNvSpPr/>
          <p:nvPr/>
        </p:nvSpPr>
        <p:spPr bwMode="auto">
          <a:xfrm>
            <a:off x="0" y="0"/>
            <a:ext cx="12191695" cy="18288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0815725" name="TextBox 2"/>
          <p:cNvSpPr txBox="1"/>
          <p:nvPr/>
        </p:nvSpPr>
        <p:spPr bwMode="auto">
          <a:xfrm>
            <a:off x="731520" y="548640"/>
            <a:ext cx="10729734" cy="140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0A0F1D"/>
                </a:solidFill>
              </a:defRPr>
            </a:pPr>
            <a:r>
              <a:rPr/>
              <a:t>Adaptive Diagnostic Reasoning Framework for Autonomous Cloud Operations</a:t>
            </a:r>
            <a:endParaRPr/>
          </a:p>
          <a:p>
            <a:pPr>
              <a:defRPr sz="1800" b="1">
                <a:solidFill>
                  <a:srgbClr val="0369A1"/>
                </a:solidFill>
              </a:defRPr>
            </a:pPr>
            <a:r>
              <a:rPr/>
              <a:t>Self-Evolving Knowledge-Driven Incident Mitigation for Microservice Architectures</a:t>
            </a:r>
            <a:endParaRPr/>
          </a:p>
        </p:txBody>
      </p:sp>
      <p:sp>
        <p:nvSpPr>
          <p:cNvPr id="1858496224" name="Rounded Rectangle 3"/>
          <p:cNvSpPr/>
          <p:nvPr/>
        </p:nvSpPr>
        <p:spPr bwMode="auto">
          <a:xfrm>
            <a:off x="731520" y="2926080"/>
            <a:ext cx="2514600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8033573" name="Rounded Rectangle 4"/>
          <p:cNvSpPr/>
          <p:nvPr/>
        </p:nvSpPr>
        <p:spPr bwMode="auto">
          <a:xfrm>
            <a:off x="841248" y="3063240"/>
            <a:ext cx="2295144" cy="5029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D"/>
                </a:solidFill>
              </a:defRPr>
            </a:pPr>
            <a:r>
              <a:rPr/>
              <a:t>TEAM MEMBER 1</a:t>
            </a:r>
            <a:endParaRPr/>
          </a:p>
        </p:txBody>
      </p:sp>
      <p:sp>
        <p:nvSpPr>
          <p:cNvPr id="1080749300" name="TextBox 5"/>
          <p:cNvSpPr txBox="1"/>
          <p:nvPr/>
        </p:nvSpPr>
        <p:spPr bwMode="auto">
          <a:xfrm>
            <a:off x="914400" y="3703320"/>
            <a:ext cx="2170079" cy="1204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F1D"/>
                </a:solidFill>
              </a:defRPr>
            </a:pPr>
            <a:r>
              <a:rPr/>
              <a:t>Name:</a:t>
            </a:r>
            <a:endParaRPr/>
          </a:p>
          <a:p>
            <a:pPr>
              <a:spcAft>
                <a:spcPts val="1800"/>
              </a:spcAft>
              <a:defRPr sz="1400">
                <a:solidFill>
                  <a:srgbClr val="64748B"/>
                </a:solidFill>
              </a:defRPr>
            </a:pPr>
            <a:r>
              <a:rPr/>
              <a:t>DHIVYA PRASATH K</a:t>
            </a:r>
            <a:endParaRPr/>
          </a:p>
          <a:p>
            <a:pPr>
              <a:defRPr sz="1500" b="1">
                <a:solidFill>
                  <a:srgbClr val="0A0F1D"/>
                </a:solidFill>
              </a:defRPr>
            </a:pPr>
            <a:r>
              <a:rPr/>
              <a:t>Registration No:</a:t>
            </a:r>
            <a:endParaRPr/>
          </a:p>
          <a:p>
            <a:pPr>
              <a:defRPr sz="1400">
                <a:solidFill>
                  <a:srgbClr val="64748B"/>
                </a:solidFill>
              </a:defRPr>
            </a:pPr>
            <a:r>
              <a:rPr/>
              <a:t>22MID0072</a:t>
            </a:r>
            <a:endParaRPr/>
          </a:p>
        </p:txBody>
      </p:sp>
      <p:sp>
        <p:nvSpPr>
          <p:cNvPr id="1364590304" name="Rounded Rectangle 6"/>
          <p:cNvSpPr/>
          <p:nvPr/>
        </p:nvSpPr>
        <p:spPr bwMode="auto">
          <a:xfrm>
            <a:off x="3465576" y="2926080"/>
            <a:ext cx="2514600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6557001" name="Rounded Rectangle 7"/>
          <p:cNvSpPr/>
          <p:nvPr/>
        </p:nvSpPr>
        <p:spPr bwMode="auto">
          <a:xfrm>
            <a:off x="3575303" y="3063240"/>
            <a:ext cx="2295144" cy="5029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D"/>
                </a:solidFill>
              </a:defRPr>
            </a:pPr>
            <a:r>
              <a:rPr/>
              <a:t>TEAM MEMBER 2</a:t>
            </a:r>
            <a:endParaRPr/>
          </a:p>
        </p:txBody>
      </p:sp>
      <p:sp>
        <p:nvSpPr>
          <p:cNvPr id="1385541883" name="TextBox 8"/>
          <p:cNvSpPr txBox="1"/>
          <p:nvPr/>
        </p:nvSpPr>
        <p:spPr bwMode="auto">
          <a:xfrm>
            <a:off x="3648456" y="3703320"/>
            <a:ext cx="2163239" cy="1204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F1D"/>
                </a:solidFill>
              </a:defRPr>
            </a:pPr>
            <a:r>
              <a:rPr/>
              <a:t>Name:</a:t>
            </a:r>
            <a:endParaRPr/>
          </a:p>
          <a:p>
            <a:pPr>
              <a:spcAft>
                <a:spcPts val="1800"/>
              </a:spcAft>
              <a:defRPr sz="1400">
                <a:solidFill>
                  <a:srgbClr val="64748B"/>
                </a:solidFill>
              </a:defRPr>
            </a:pPr>
            <a:r>
              <a:rPr/>
              <a:t>G MAHESH</a:t>
            </a:r>
            <a:endParaRPr/>
          </a:p>
          <a:p>
            <a:pPr>
              <a:defRPr sz="1500" b="1">
                <a:solidFill>
                  <a:srgbClr val="0A0F1D"/>
                </a:solidFill>
              </a:defRPr>
            </a:pPr>
            <a:r>
              <a:rPr/>
              <a:t>Registration No:</a:t>
            </a:r>
            <a:endParaRPr/>
          </a:p>
          <a:p>
            <a:pPr>
              <a:defRPr sz="1400">
                <a:solidFill>
                  <a:srgbClr val="64748B"/>
                </a:solidFill>
              </a:defRPr>
            </a:pPr>
            <a:r>
              <a:rPr/>
              <a:t>24MIC0019</a:t>
            </a:r>
            <a:endParaRPr/>
          </a:p>
        </p:txBody>
      </p:sp>
      <p:sp>
        <p:nvSpPr>
          <p:cNvPr id="1446493438" name="Rounded Rectangle 9"/>
          <p:cNvSpPr/>
          <p:nvPr/>
        </p:nvSpPr>
        <p:spPr bwMode="auto">
          <a:xfrm>
            <a:off x="6199632" y="2926080"/>
            <a:ext cx="2514600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3125222" name="Rounded Rectangle 10"/>
          <p:cNvSpPr/>
          <p:nvPr/>
        </p:nvSpPr>
        <p:spPr bwMode="auto">
          <a:xfrm>
            <a:off x="6309360" y="3063240"/>
            <a:ext cx="2295144" cy="5029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D"/>
                </a:solidFill>
              </a:defRPr>
            </a:pPr>
            <a:r>
              <a:rPr/>
              <a:t>TEAM MEMBER 3</a:t>
            </a:r>
            <a:endParaRPr/>
          </a:p>
        </p:txBody>
      </p:sp>
      <p:sp>
        <p:nvSpPr>
          <p:cNvPr id="704002112" name="TextBox 11"/>
          <p:cNvSpPr txBox="1"/>
          <p:nvPr/>
        </p:nvSpPr>
        <p:spPr bwMode="auto">
          <a:xfrm>
            <a:off x="6382512" y="3703320"/>
            <a:ext cx="2159999" cy="1204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F1D"/>
                </a:solidFill>
              </a:defRPr>
            </a:pPr>
            <a:r>
              <a:rPr/>
              <a:t>Name:</a:t>
            </a:r>
            <a:endParaRPr/>
          </a:p>
          <a:p>
            <a:pPr>
              <a:spcAft>
                <a:spcPts val="1800"/>
              </a:spcAft>
              <a:defRPr sz="1400">
                <a:solidFill>
                  <a:srgbClr val="64748B"/>
                </a:solidFill>
              </a:defRPr>
            </a:pPr>
            <a:r>
              <a:rPr/>
              <a:t>T S UMA KARTHIK</a:t>
            </a:r>
            <a:endParaRPr/>
          </a:p>
          <a:p>
            <a:pPr>
              <a:defRPr sz="1500" b="1">
                <a:solidFill>
                  <a:srgbClr val="0A0F1D"/>
                </a:solidFill>
              </a:defRPr>
            </a:pPr>
            <a:r>
              <a:rPr/>
              <a:t>Registration No:</a:t>
            </a:r>
            <a:endParaRPr/>
          </a:p>
          <a:p>
            <a:pPr>
              <a:defRPr sz="1400">
                <a:solidFill>
                  <a:srgbClr val="64748B"/>
                </a:solidFill>
              </a:defRPr>
            </a:pPr>
            <a:r>
              <a:rPr/>
              <a:t>24MID0084</a:t>
            </a:r>
            <a:endParaRPr/>
          </a:p>
        </p:txBody>
      </p:sp>
      <p:sp>
        <p:nvSpPr>
          <p:cNvPr id="1898692044" name="Rounded Rectangle 12"/>
          <p:cNvSpPr/>
          <p:nvPr/>
        </p:nvSpPr>
        <p:spPr bwMode="auto">
          <a:xfrm>
            <a:off x="8933688" y="2926080"/>
            <a:ext cx="2514600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3080147" name="Rounded Rectangle 13"/>
          <p:cNvSpPr/>
          <p:nvPr/>
        </p:nvSpPr>
        <p:spPr bwMode="auto">
          <a:xfrm>
            <a:off x="9043416" y="3063240"/>
            <a:ext cx="2295144" cy="5029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D"/>
                </a:solidFill>
              </a:defRPr>
            </a:pPr>
            <a:r>
              <a:rPr/>
              <a:t>TEAM MEMBER 4</a:t>
            </a:r>
            <a:endParaRPr/>
          </a:p>
        </p:txBody>
      </p:sp>
      <p:sp>
        <p:nvSpPr>
          <p:cNvPr id="810658456" name="TextBox 14"/>
          <p:cNvSpPr txBox="1"/>
          <p:nvPr/>
        </p:nvSpPr>
        <p:spPr bwMode="auto">
          <a:xfrm>
            <a:off x="9116568" y="3703320"/>
            <a:ext cx="2167198" cy="120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F1D"/>
                </a:solidFill>
              </a:defRPr>
            </a:pPr>
            <a:r>
              <a:rPr/>
              <a:t>Name:</a:t>
            </a:r>
            <a:endParaRPr/>
          </a:p>
          <a:p>
            <a:pPr>
              <a:spcAft>
                <a:spcPts val="1800"/>
              </a:spcAft>
              <a:defRPr sz="1400">
                <a:solidFill>
                  <a:srgbClr val="64748B"/>
                </a:solidFill>
              </a:defRPr>
            </a:pPr>
            <a:r>
              <a:rPr/>
              <a:t>FUZAIL AHMED SAADI N</a:t>
            </a:r>
            <a:endParaRPr/>
          </a:p>
          <a:p>
            <a:pPr>
              <a:defRPr sz="1500" b="1">
                <a:solidFill>
                  <a:srgbClr val="0A0F1D"/>
                </a:solidFill>
              </a:defRPr>
            </a:pPr>
            <a:r>
              <a:rPr/>
              <a:t>Registration No:</a:t>
            </a:r>
            <a:endParaRPr/>
          </a:p>
          <a:p>
            <a:pPr>
              <a:defRPr sz="1400">
                <a:solidFill>
                  <a:srgbClr val="64748B"/>
                </a:solidFill>
              </a:defRPr>
            </a:pPr>
            <a:r>
              <a:rPr/>
              <a:t>24MIC0102</a:t>
            </a:r>
            <a:endParaRPr/>
          </a:p>
        </p:txBody>
      </p:sp>
      <p:sp>
        <p:nvSpPr>
          <p:cNvPr id="644898733" name="TextBox 15"/>
          <p:cNvSpPr txBox="1"/>
          <p:nvPr/>
        </p:nvSpPr>
        <p:spPr bwMode="auto">
          <a:xfrm>
            <a:off x="6004209" y="6263640"/>
            <a:ext cx="183636" cy="289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928771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01. THE PROBLEM CONTEXT</a:t>
            </a:r>
            <a:endParaRPr/>
          </a:p>
        </p:txBody>
      </p:sp>
      <p:sp>
        <p:nvSpPr>
          <p:cNvPr id="152794987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Problem Statement: The Pain of Cloud Outage Triage</a:t>
            </a:r>
            <a:endParaRPr/>
          </a:p>
        </p:txBody>
      </p:sp>
      <p:sp>
        <p:nvSpPr>
          <p:cNvPr id="830934887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3346651" name="Rounded Rectangle 4"/>
          <p:cNvSpPr/>
          <p:nvPr/>
        </p:nvSpPr>
        <p:spPr bwMode="auto">
          <a:xfrm>
            <a:off x="7315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3362671" name="TextBox 5"/>
          <p:cNvSpPr txBox="1"/>
          <p:nvPr/>
        </p:nvSpPr>
        <p:spPr bwMode="auto">
          <a:xfrm>
            <a:off x="9601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1. Manual Runbook Hell</a:t>
            </a:r>
            <a:endParaRPr/>
          </a:p>
        </p:txBody>
      </p:sp>
      <p:sp>
        <p:nvSpPr>
          <p:cNvPr id="887877815" name="Rectangle 6"/>
          <p:cNvSpPr/>
          <p:nvPr/>
        </p:nvSpPr>
        <p:spPr bwMode="auto">
          <a:xfrm>
            <a:off x="914400" y="1572768"/>
            <a:ext cx="3035808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3879567" name="TextBox 7"/>
          <p:cNvSpPr txBox="1"/>
          <p:nvPr/>
        </p:nvSpPr>
        <p:spPr bwMode="auto">
          <a:xfrm>
            <a:off x="960120" y="2148840"/>
            <a:ext cx="294436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A0F1D"/>
                </a:solidFill>
              </a:defRPr>
            </a:pPr>
            <a:r>
              <a:rPr/>
              <a:t>Cloud engineers rely on static 50-page checklists during midnight outages.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Human SREs manually inspect 10+ dashboards (Prometheus, Grafana, OpenTelemetry, raw logs).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Mean Time to Detect &amp; Isolate root causes averages 30 to 45 minutes of expensive downtime.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Fatigue leads to mistaken diagnoses and prolonged customer outages.</a:t>
            </a:r>
            <a:endParaRPr/>
          </a:p>
        </p:txBody>
      </p:sp>
      <p:sp>
        <p:nvSpPr>
          <p:cNvPr id="1799363816" name="Rounded Rectangle 8"/>
          <p:cNvSpPr/>
          <p:nvPr/>
        </p:nvSpPr>
        <p:spPr bwMode="auto">
          <a:xfrm>
            <a:off x="43891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0907524" name="TextBox 9"/>
          <p:cNvSpPr txBox="1"/>
          <p:nvPr/>
        </p:nvSpPr>
        <p:spPr bwMode="auto">
          <a:xfrm>
            <a:off x="46177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2. Static Scripts Cannot Learn</a:t>
            </a:r>
            <a:endParaRPr/>
          </a:p>
        </p:txBody>
      </p:sp>
      <p:sp>
        <p:nvSpPr>
          <p:cNvPr id="1606999276" name="Rectangle 10"/>
          <p:cNvSpPr/>
          <p:nvPr/>
        </p:nvSpPr>
        <p:spPr bwMode="auto">
          <a:xfrm>
            <a:off x="4572000" y="1572768"/>
            <a:ext cx="3035808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3202857" name="TextBox 11"/>
          <p:cNvSpPr txBox="1"/>
          <p:nvPr/>
        </p:nvSpPr>
        <p:spPr bwMode="auto">
          <a:xfrm>
            <a:off x="4617720" y="2148840"/>
            <a:ext cx="294436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A0F1D"/>
                </a:solidFill>
              </a:defRPr>
            </a:pPr>
            <a:r>
              <a:rPr/>
              <a:t>Hardcoded automation scripts break as soon as cloud microservices change.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Traditional automation relies on rigid If-Then rules written months ago.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Modern microservices release daily updates and topological changes that break static scripts.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Past incident knowledge is lost in static postmortem docs and never fed back into triage.</a:t>
            </a:r>
            <a:endParaRPr/>
          </a:p>
        </p:txBody>
      </p:sp>
      <p:sp>
        <p:nvSpPr>
          <p:cNvPr id="1154561546" name="Rounded Rectangle 12"/>
          <p:cNvSpPr/>
          <p:nvPr/>
        </p:nvSpPr>
        <p:spPr bwMode="auto">
          <a:xfrm>
            <a:off x="80467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5563194" name="TextBox 13"/>
          <p:cNvSpPr txBox="1"/>
          <p:nvPr/>
        </p:nvSpPr>
        <p:spPr bwMode="auto">
          <a:xfrm>
            <a:off x="82753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3. Fear of Auto-Remediation</a:t>
            </a:r>
            <a:endParaRPr/>
          </a:p>
        </p:txBody>
      </p:sp>
      <p:sp>
        <p:nvSpPr>
          <p:cNvPr id="1379278035" name="Rectangle 14"/>
          <p:cNvSpPr/>
          <p:nvPr/>
        </p:nvSpPr>
        <p:spPr bwMode="auto">
          <a:xfrm>
            <a:off x="8229600" y="1572768"/>
            <a:ext cx="3035808" cy="54864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0389441" name="TextBox 15"/>
          <p:cNvSpPr txBox="1"/>
          <p:nvPr/>
        </p:nvSpPr>
        <p:spPr bwMode="auto">
          <a:xfrm>
            <a:off x="8275320" y="2148840"/>
            <a:ext cx="294436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A0F1D"/>
                </a:solidFill>
              </a:defRPr>
            </a:pPr>
            <a:r>
              <a:rPr/>
              <a:t>Autonomous cloud triage is disabled because unsafe actions crash systems.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SRE teams do not trust automated healing scripts without safety guardrails.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A blind pod restart or query kill can trigger catastrophic cascading failures across dependent tiers.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Without mathematical safety verification, fully autonomous cloud operations remain impossible.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378633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02. RESEARCH CONTEXT</a:t>
            </a:r>
            <a:endParaRPr/>
          </a:p>
        </p:txBody>
      </p:sp>
      <p:sp>
        <p:nvSpPr>
          <p:cNvPr id="519716927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Literature Review: Related Research &amp; Technical Limitations</a:t>
            </a:r>
            <a:endParaRPr/>
          </a:p>
        </p:txBody>
      </p:sp>
      <p:sp>
        <p:nvSpPr>
          <p:cNvPr id="957086685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2013979388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463040"/>
          <a:ext cx="10728654" cy="48463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11680"/>
                <a:gridCol w="1828800"/>
                <a:gridCol w="3291840"/>
                <a:gridCol w="3596335"/>
              </a:tblGrid>
              <a:tr h="969264">
                <a:tc>
                  <a:txBody>
                    <a:bodyPr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Paper &amp; Source</a:t>
                      </a:r>
                      <a:endParaRPr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Core Technique</a:t>
                      </a:r>
                      <a:endParaRPr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Operational Mechanism</a:t>
                      </a:r>
                      <a:endParaRPr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Fundamental Technical Limitation</a:t>
                      </a:r>
                      <a:endParaRPr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969264">
                <a:tc>
                  <a:txBody>
                    <a:bodyPr/>
                    <a:p>
                      <a:pPr>
                        <a:defRPr sz="1400" b="1">
                          <a:solidFill>
                            <a:srgbClr val="0369A1"/>
                          </a:solidFill>
                        </a:defRPr>
                      </a:pPr>
                      <a:r>
                        <a:rPr/>
                        <a:t>Chen et al.</a:t>
                      </a:r>
                      <a:br>
                        <a:rPr/>
                      </a:br>
                      <a:r>
                        <a:rPr/>
                        <a:t>IEEE TSE (2021)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Causal Discovery</a:t>
                      </a:r>
                      <a:br>
                        <a:rPr/>
                      </a:br>
                      <a:r>
                        <a:rPr/>
                        <a:t>(PC / DAG Algorithm)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Constructs causal DAGs from microservice metrics and tracing logs.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A0F1D"/>
                          </a:solidFill>
                        </a:defRPr>
                      </a:pPr>
                      <a:r>
                        <a:rPr/>
                        <a:t>Requires massive historical data. High compute latency during active live outages; cannot adapt online.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p>
                      <a:pPr>
                        <a:defRPr sz="1400" b="1">
                          <a:solidFill>
                            <a:srgbClr val="0369A1"/>
                          </a:solidFill>
                        </a:defRPr>
                      </a:pPr>
                      <a:r>
                        <a:rPr/>
                        <a:t>Zhang et al.</a:t>
                      </a:r>
                      <a:br>
                        <a:rPr/>
                      </a:br>
                      <a:r>
                        <a:rPr/>
                        <a:t>ACM SIGCOMM (2022)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Rule-Based Runbooks</a:t>
                      </a:r>
                      <a:br>
                        <a:rPr/>
                      </a:br>
                      <a:r>
                        <a:rPr/>
                        <a:t>(Decision Trees)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Executes static condition-action scripts for known cloud failure modes.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A0F1D"/>
                          </a:solidFill>
                        </a:defRPr>
                      </a:pPr>
                      <a:r>
                        <a:rPr/>
                        <a:t>Brittle to topology changes. Zero self-evolution capability; static scripts fail when services evolve.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969264">
                <a:tc>
                  <a:txBody>
                    <a:bodyPr/>
                    <a:p>
                      <a:pPr>
                        <a:defRPr sz="1400" b="1">
                          <a:solidFill>
                            <a:srgbClr val="0369A1"/>
                          </a:solidFill>
                        </a:defRPr>
                      </a:pPr>
                      <a:r>
                        <a:rPr/>
                        <a:t>Wang et al.</a:t>
                      </a:r>
                      <a:br>
                        <a:rPr/>
                      </a:br>
                      <a:r>
                        <a:rPr/>
                        <a:t>VLDB (2023)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Reinforcement Learning</a:t>
                      </a:r>
                      <a:br>
                        <a:rPr/>
                      </a:br>
                      <a:r>
                        <a:rPr/>
                        <a:t>(Deep Q-Networks)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Trains RL agents to choose pod restart and scaling actions.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A0F1D"/>
                          </a:solidFill>
                        </a:defRPr>
                      </a:pPr>
                      <a:r>
                        <a:rPr/>
                        <a:t>Black-box decisions cannot be explained to SREs. Lacks formal safety verification, risking cascading crashes.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p>
                      <a:pPr>
                        <a:defRPr sz="1400" b="1">
                          <a:solidFill>
                            <a:srgbClr val="0369A1"/>
                          </a:solidFill>
                        </a:defRPr>
                      </a:pPr>
                      <a:r>
                        <a:rPr/>
                        <a:t>Liu et al.</a:t>
                      </a:r>
                      <a:br>
                        <a:rPr/>
                      </a:br>
                      <a:r>
                        <a:rPr/>
                        <a:t>arXiv:2401.08920 (2024)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Graph Neural Networks</a:t>
                      </a:r>
                      <a:br>
                        <a:rPr/>
                      </a:br>
                      <a:r>
                        <a:rPr/>
                        <a:t>(GNN Telemetry)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Learns neural embeddings over microservice dependency graphs.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A0F1D"/>
                          </a:solidFill>
                        </a:defRPr>
                      </a:pPr>
                      <a:r>
                        <a:rPr/>
                        <a:t>Heavy GPU resource consumption. Cannot guarantee mathematical non-regression before applying updates.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184594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03. ARCHITECTURAL COMPARISON</a:t>
            </a:r>
            <a:endParaRPr/>
          </a:p>
        </p:txBody>
      </p:sp>
      <p:sp>
        <p:nvSpPr>
          <p:cNvPr id="1923105493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Comparison: Why Our Graph Solution Beats Traditional ML / DL</a:t>
            </a:r>
            <a:endParaRPr/>
          </a:p>
        </p:txBody>
      </p:sp>
      <p:sp>
        <p:nvSpPr>
          <p:cNvPr id="1641481623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369680141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463040"/>
          <a:ext cx="10728654" cy="48463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77440"/>
                <a:gridCol w="4114800"/>
                <a:gridCol w="4236415"/>
              </a:tblGrid>
              <a:tr h="969264">
                <a:tc>
                  <a:txBody>
                    <a:bodyPr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Evaluation Dimension</a:t>
                      </a:r>
                      <a:endParaRPr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Traditional ML / Deep Learning / NN</a:t>
                      </a:r>
                      <a:endParaRPr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Our Adaptive Diagnostic Graph Solution</a:t>
                      </a:r>
                      <a:endParaRPr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969264">
                <a:tc>
                  <a:txBody>
                    <a:bodyPr/>
                    <a:p>
                      <a:pPr>
                        <a:defRPr sz="1450" b="1">
                          <a:solidFill>
                            <a:srgbClr val="0A0F1D"/>
                          </a:solidFill>
                        </a:defRPr>
                      </a:pPr>
                      <a:r>
                        <a:rPr/>
                        <a:t>Explainability &amp; Trust</a:t>
                      </a:r>
                      <a:br>
                        <a:rPr/>
                      </a:br>
                      <a:r>
                        <a:rPr/>
                        <a:t>(SRE Compliance)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Black-box neural network weights. SREs cannot interpret why a specific restart action was selected, leading to mistrust.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100% human-readable causal DAG (NetworkX). Every step is an inspectable traversal path with clear entropy rationale.</a:t>
                      </a:r>
                      <a:endParaRPr/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969264">
                <a:tc>
                  <a:txBody>
                    <a:bodyPr/>
                    <a:p>
                      <a:pPr>
                        <a:defRPr sz="1450" b="1">
                          <a:solidFill>
                            <a:srgbClr val="0A0F1D"/>
                          </a:solidFill>
                        </a:defRPr>
                      </a:pPr>
                      <a:r>
                        <a:rPr/>
                        <a:t>Training Data &amp; Cold Start</a:t>
                      </a:r>
                      <a:br>
                        <a:rPr/>
                      </a:br>
                      <a:r>
                        <a:rPr/>
                        <a:t>(Setup Overhead)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Requires 100,000+ labeled historical outage traces and weeks of training. Fails completely on novel failure modes.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Zero cold-start needed. Initializes from basic architectural seed and learns incrementally from every single live outage.</a:t>
                      </a:r>
                      <a:endParaRPr/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  <a:tr h="969264">
                <a:tc>
                  <a:txBody>
                    <a:bodyPr/>
                    <a:p>
                      <a:pPr>
                        <a:defRPr sz="1450" b="1">
                          <a:solidFill>
                            <a:srgbClr val="0A0F1D"/>
                          </a:solidFill>
                        </a:defRPr>
                      </a:pPr>
                      <a:r>
                        <a:rPr/>
                        <a:t>Production Safety Guarantees</a:t>
                      </a:r>
                      <a:br>
                        <a:rPr/>
                      </a:br>
                      <a:r>
                        <a:rPr/>
                        <a:t>(Cascading Protection)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Probabilistic outputs with unverified hallucinations. Can trigger disastrous cascading restarts across cloud tiers.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Deterministic Safety Gate. Mathematically verifies DAG acyclicity and historical regression replay in &lt; 0.003s.</a:t>
                      </a:r>
                      <a:endParaRPr/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969264">
                <a:tc>
                  <a:txBody>
                    <a:bodyPr/>
                    <a:p>
                      <a:pPr>
                        <a:defRPr sz="1450" b="1">
                          <a:solidFill>
                            <a:srgbClr val="0A0F1D"/>
                          </a:solidFill>
                        </a:defRPr>
                      </a:pPr>
                      <a:r>
                        <a:rPr/>
                        <a:t>Latency &amp; Compute Cost</a:t>
                      </a:r>
                      <a:br>
                        <a:rPr/>
                      </a:br>
                      <a:r>
                        <a:rPr/>
                        <a:t>(Real-Time Feasibility)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Requires expensive GPU clusters. Inference takes seconds to minutes, which is far too slow during active outages.</a:t>
                      </a:r>
                      <a:endParaRPr/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rPr/>
                        <a:t>Runs in sub-millisecond execution on standard lightweight CPU containers, scaling seamlessly across microservices.</a:t>
                      </a:r>
                      <a:endParaRPr/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487712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04. SYSTEM ARCHITECTURE OVERVIEW</a:t>
            </a:r>
            <a:endParaRPr/>
          </a:p>
        </p:txBody>
      </p:sp>
      <p:sp>
        <p:nvSpPr>
          <p:cNvPr id="356846525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Proposed Solution: Self-Evolving Autonomous Reasoning</a:t>
            </a:r>
            <a:endParaRPr/>
          </a:p>
        </p:txBody>
      </p:sp>
      <p:sp>
        <p:nvSpPr>
          <p:cNvPr id="851426325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7238069" name="Rounded Rectangle 4"/>
          <p:cNvSpPr/>
          <p:nvPr/>
        </p:nvSpPr>
        <p:spPr bwMode="auto">
          <a:xfrm>
            <a:off x="731520" y="1463040"/>
            <a:ext cx="521208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3493141" name="TextBox 5"/>
          <p:cNvSpPr txBox="1"/>
          <p:nvPr/>
        </p:nvSpPr>
        <p:spPr bwMode="auto">
          <a:xfrm>
            <a:off x="96012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Module 1: Real-Time Telemetry Ingestion</a:t>
            </a:r>
            <a:endParaRPr/>
          </a:p>
        </p:txBody>
      </p:sp>
      <p:sp>
        <p:nvSpPr>
          <p:cNvPr id="1066123689" name="Rectangle 6"/>
          <p:cNvSpPr/>
          <p:nvPr/>
        </p:nvSpPr>
        <p:spPr bwMode="auto">
          <a:xfrm>
            <a:off x="914400" y="1572768"/>
            <a:ext cx="48463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2463201" name="TextBox 7"/>
          <p:cNvSpPr txBox="1"/>
          <p:nvPr/>
        </p:nvSpPr>
        <p:spPr bwMode="auto">
          <a:xfrm>
            <a:off x="960120" y="210312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Continuously streams latency, error rates, and resource metrics from Prometheus and OpenTelemetry.</a:t>
            </a:r>
            <a:endParaRPr/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Classifies microservice anomaly spikes into active incident trigger events.</a:t>
            </a:r>
            <a:endParaRPr/>
          </a:p>
        </p:txBody>
      </p:sp>
      <p:sp>
        <p:nvSpPr>
          <p:cNvPr id="1492214018" name="Rounded Rectangle 8"/>
          <p:cNvSpPr/>
          <p:nvPr/>
        </p:nvSpPr>
        <p:spPr bwMode="auto">
          <a:xfrm>
            <a:off x="6245352" y="1463040"/>
            <a:ext cx="521208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960550" name="TextBox 9"/>
          <p:cNvSpPr txBox="1"/>
          <p:nvPr/>
        </p:nvSpPr>
        <p:spPr bwMode="auto">
          <a:xfrm>
            <a:off x="6473952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Module 2: Causal Diagnostic Graph (NetworkX)</a:t>
            </a:r>
            <a:endParaRPr/>
          </a:p>
        </p:txBody>
      </p:sp>
      <p:sp>
        <p:nvSpPr>
          <p:cNvPr id="1537829483" name="Rectangle 10"/>
          <p:cNvSpPr/>
          <p:nvPr/>
        </p:nvSpPr>
        <p:spPr bwMode="auto">
          <a:xfrm>
            <a:off x="6428232" y="1572768"/>
            <a:ext cx="4846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5503459" name="TextBox 11"/>
          <p:cNvSpPr txBox="1"/>
          <p:nvPr/>
        </p:nvSpPr>
        <p:spPr bwMode="auto">
          <a:xfrm>
            <a:off x="6473952" y="210312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Maps microservice dependencies as a Directed Acyclic Graph (DAG) with active probing nodes.</a:t>
            </a:r>
            <a:endParaRPr/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Traverses highest-probability paths to isolate root causes in seconds instead of human hours.</a:t>
            </a:r>
            <a:endParaRPr/>
          </a:p>
        </p:txBody>
      </p:sp>
      <p:sp>
        <p:nvSpPr>
          <p:cNvPr id="2146344726" name="Rounded Rectangle 12"/>
          <p:cNvSpPr/>
          <p:nvPr/>
        </p:nvSpPr>
        <p:spPr bwMode="auto">
          <a:xfrm>
            <a:off x="731520" y="3977639"/>
            <a:ext cx="521208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594943" name="TextBox 13"/>
          <p:cNvSpPr txBox="1"/>
          <p:nvPr/>
        </p:nvSpPr>
        <p:spPr bwMode="auto">
          <a:xfrm>
            <a:off x="960120" y="416051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Module 3: Adaptive Self-Evolution Engine</a:t>
            </a:r>
            <a:endParaRPr/>
          </a:p>
        </p:txBody>
      </p:sp>
      <p:sp>
        <p:nvSpPr>
          <p:cNvPr id="943163391" name="Rectangle 14"/>
          <p:cNvSpPr/>
          <p:nvPr/>
        </p:nvSpPr>
        <p:spPr bwMode="auto">
          <a:xfrm>
            <a:off x="914400" y="4087367"/>
            <a:ext cx="4846320" cy="54864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400453" name="TextBox 15"/>
          <p:cNvSpPr txBox="1"/>
          <p:nvPr/>
        </p:nvSpPr>
        <p:spPr bwMode="auto">
          <a:xfrm>
            <a:off x="960120" y="4617719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Mutates diagnostic topology after each incident based on Shannon Entropy and Information Gain.</a:t>
            </a:r>
            <a:endParaRPr/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Automatically Prunes obsolete checks, Reorders probe priorities, and Adds new failure nodes.</a:t>
            </a:r>
            <a:endParaRPr/>
          </a:p>
        </p:txBody>
      </p:sp>
      <p:sp>
        <p:nvSpPr>
          <p:cNvPr id="1414229000" name="Rounded Rectangle 16"/>
          <p:cNvSpPr/>
          <p:nvPr/>
        </p:nvSpPr>
        <p:spPr bwMode="auto">
          <a:xfrm>
            <a:off x="6245352" y="3977639"/>
            <a:ext cx="521208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5664127" name="TextBox 17"/>
          <p:cNvSpPr txBox="1"/>
          <p:nvPr/>
        </p:nvSpPr>
        <p:spPr bwMode="auto">
          <a:xfrm>
            <a:off x="6473952" y="416051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Module 4: Deterministic Safety Verification Gate</a:t>
            </a:r>
            <a:endParaRPr/>
          </a:p>
        </p:txBody>
      </p:sp>
      <p:sp>
        <p:nvSpPr>
          <p:cNvPr id="561166642" name="Rectangle 18"/>
          <p:cNvSpPr/>
          <p:nvPr/>
        </p:nvSpPr>
        <p:spPr bwMode="auto">
          <a:xfrm>
            <a:off x="6428232" y="4087367"/>
            <a:ext cx="4846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1665529" name="TextBox 19"/>
          <p:cNvSpPr txBox="1"/>
          <p:nvPr/>
        </p:nvSpPr>
        <p:spPr bwMode="auto">
          <a:xfrm>
            <a:off x="6473952" y="4617719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Mathematically validates candidate graphs before production deployment.</a:t>
            </a:r>
            <a:endParaRPr/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Enforces strict DAG acyclicity and replays historical incidents to guarantee 0% MTTR regression.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286129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05. CORE METHODOLOGY</a:t>
            </a:r>
            <a:endParaRPr/>
          </a:p>
        </p:txBody>
      </p:sp>
      <p:sp>
        <p:nvSpPr>
          <p:cNvPr id="961605760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Methodology: How Active Probing &amp; Self-Evolution Work</a:t>
            </a:r>
            <a:endParaRPr/>
          </a:p>
        </p:txBody>
      </p:sp>
      <p:sp>
        <p:nvSpPr>
          <p:cNvPr id="2074929299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0835729" name="Rounded Rectangle 4"/>
          <p:cNvSpPr/>
          <p:nvPr/>
        </p:nvSpPr>
        <p:spPr bwMode="auto">
          <a:xfrm>
            <a:off x="731520" y="1463040"/>
            <a:ext cx="5212080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6774751" name="TextBox 5"/>
          <p:cNvSpPr txBox="1"/>
          <p:nvPr/>
        </p:nvSpPr>
        <p:spPr bwMode="auto">
          <a:xfrm>
            <a:off x="96012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Step 1: Shannon Entropy &amp; Probe Optimization</a:t>
            </a:r>
            <a:endParaRPr/>
          </a:p>
        </p:txBody>
      </p:sp>
      <p:sp>
        <p:nvSpPr>
          <p:cNvPr id="1586344152" name="Rectangle 6"/>
          <p:cNvSpPr/>
          <p:nvPr/>
        </p:nvSpPr>
        <p:spPr bwMode="auto">
          <a:xfrm>
            <a:off x="914400" y="1572768"/>
            <a:ext cx="48463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004394" name="TextBox 7"/>
          <p:cNvSpPr txBox="1"/>
          <p:nvPr/>
        </p:nvSpPr>
        <p:spPr bwMode="auto">
          <a:xfrm>
            <a:off x="96012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0F1D"/>
                </a:solidFill>
              </a:defRPr>
            </a:pPr>
            <a:r>
              <a:rPr/>
              <a:t>How the system decides which probe to execute first:</a:t>
            </a:r>
            <a:endParaRPr/>
          </a:p>
        </p:txBody>
      </p:sp>
      <p:sp>
        <p:nvSpPr>
          <p:cNvPr id="585829464" name="Rounded Rectangle 8"/>
          <p:cNvSpPr/>
          <p:nvPr/>
        </p:nvSpPr>
        <p:spPr bwMode="auto">
          <a:xfrm>
            <a:off x="1097280" y="2651760"/>
            <a:ext cx="4480560" cy="1005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369A1"/>
                </a:solidFill>
              </a:defRPr>
            </a:pPr>
            <a:r>
              <a:rPr/>
              <a:t>Information Gain = Current Uncertainty - Remaining Uncertainty</a:t>
            </a:r>
            <a:br>
              <a:rPr/>
            </a:br>
            <a:r>
              <a:rPr/>
              <a:t>IG(Test) = H(System State) - H(System State | Test Result)</a:t>
            </a:r>
            <a:endParaRPr/>
          </a:p>
        </p:txBody>
      </p:sp>
      <p:sp>
        <p:nvSpPr>
          <p:cNvPr id="96073977" name="TextBox 9"/>
          <p:cNvSpPr txBox="1"/>
          <p:nvPr/>
        </p:nvSpPr>
        <p:spPr bwMode="auto">
          <a:xfrm>
            <a:off x="960120" y="38404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High Uncertainty H(S): When an outage occurs, multiple services could be the root cause.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Maximizing Information Gain: The framework selects the probe that eliminates the maximum doubt first.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Rapid Pruning: Probes that yield low or zero information are moved down or removed.</a:t>
            </a:r>
            <a:endParaRPr/>
          </a:p>
          <a:p>
            <a:pPr>
              <a:spcAft>
                <a:spcPts val="10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Result: Reduces root-cause search steps by &gt; 30% compared to brute-force checklists.</a:t>
            </a:r>
            <a:endParaRPr/>
          </a:p>
        </p:txBody>
      </p:sp>
      <p:sp>
        <p:nvSpPr>
          <p:cNvPr id="1250005338" name="Rounded Rectangle 10"/>
          <p:cNvSpPr/>
          <p:nvPr/>
        </p:nvSpPr>
        <p:spPr bwMode="auto">
          <a:xfrm>
            <a:off x="6245352" y="1463040"/>
            <a:ext cx="5212080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8625112" name="TextBox 11"/>
          <p:cNvSpPr txBox="1"/>
          <p:nvPr/>
        </p:nvSpPr>
        <p:spPr bwMode="auto">
          <a:xfrm>
            <a:off x="6473952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Step 2: Deterministic Safety Verification Gate</a:t>
            </a:r>
            <a:endParaRPr/>
          </a:p>
        </p:txBody>
      </p:sp>
      <p:sp>
        <p:nvSpPr>
          <p:cNvPr id="1275002929" name="Rectangle 12"/>
          <p:cNvSpPr/>
          <p:nvPr/>
        </p:nvSpPr>
        <p:spPr bwMode="auto">
          <a:xfrm>
            <a:off x="6428232" y="1572768"/>
            <a:ext cx="4846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1499112" name="TextBox 13"/>
          <p:cNvSpPr txBox="1"/>
          <p:nvPr/>
        </p:nvSpPr>
        <p:spPr bwMode="auto">
          <a:xfrm>
            <a:off x="6473952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0F1D"/>
                </a:solidFill>
              </a:defRPr>
            </a:pPr>
            <a:r>
              <a:rPr/>
              <a:t>3 Strict Mathematical Checks Before Any Graph Evolution:</a:t>
            </a:r>
            <a:endParaRPr/>
          </a:p>
          <a:p>
            <a:pPr>
              <a:spcAft>
                <a:spcPts val="200"/>
              </a:spcAft>
              <a:defRPr sz="1500" b="1">
                <a:solidFill>
                  <a:srgbClr val="0369A1"/>
                </a:solidFill>
              </a:defRPr>
            </a:pPr>
            <a:r>
              <a:rPr/>
              <a:t>• 1. DAG Acyclicity Check:</a:t>
            </a:r>
            <a:endParaRPr/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rPr/>
              <a:t>  The mutated candidate graph is verified using Kahn's topological sort. Zero circular dependency loops are permitted.</a:t>
            </a:r>
            <a:endParaRPr/>
          </a:p>
          <a:p>
            <a:pPr>
              <a:spcAft>
                <a:spcPts val="200"/>
              </a:spcAft>
              <a:defRPr sz="1500" b="1">
                <a:solidFill>
                  <a:srgbClr val="0369A1"/>
                </a:solidFill>
              </a:defRPr>
            </a:pPr>
            <a:r>
              <a:rPr/>
              <a:t>• 2. Historical Incident Replay:</a:t>
            </a:r>
            <a:endParaRPr/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rPr/>
              <a:t>  The candidate graph is replayed against past incident benchmarks. It MUST match or beat baseline MTTR (0% regression).</a:t>
            </a:r>
            <a:endParaRPr/>
          </a:p>
          <a:p>
            <a:pPr>
              <a:spcAft>
                <a:spcPts val="200"/>
              </a:spcAft>
              <a:defRPr sz="1500" b="1">
                <a:solidFill>
                  <a:srgbClr val="0369A1"/>
                </a:solidFill>
              </a:defRPr>
            </a:pPr>
            <a:r>
              <a:rPr/>
              <a:t>• 3. Action Safety &amp; Rate Limiting:</a:t>
            </a:r>
            <a:endParaRPr/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rPr/>
              <a:t>  Destructive remediation actions (pod restarts, connection pool bumps) require explicit two-phase verification bounds.</a:t>
            </a:r>
            <a:endParaRPr/>
          </a:p>
          <a:p>
            <a:pPr>
              <a:spcAft>
                <a:spcPts val="200"/>
              </a:spcAft>
              <a:defRPr sz="1500" b="1">
                <a:solidFill>
                  <a:srgbClr val="0369A1"/>
                </a:solidFill>
              </a:defRPr>
            </a:pPr>
            <a:r>
              <a:rPr/>
              <a:t>• 4. Sub-Millisecond Gate Latency:</a:t>
            </a:r>
            <a:endParaRPr/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rPr/>
              <a:t>  Verification completes in &lt; 0.003 seconds, ensuring real-time safety without introducing operational delay.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122842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06. PROCEDURE &amp; EXECUTION</a:t>
            </a:r>
            <a:endParaRPr/>
          </a:p>
        </p:txBody>
      </p:sp>
      <p:sp>
        <p:nvSpPr>
          <p:cNvPr id="1729442235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Implementation Blueprint &amp; Execution Procedure</a:t>
            </a:r>
            <a:endParaRPr/>
          </a:p>
        </p:txBody>
      </p:sp>
      <p:sp>
        <p:nvSpPr>
          <p:cNvPr id="90452808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6686566" name="Rounded Rectangle 4"/>
          <p:cNvSpPr/>
          <p:nvPr/>
        </p:nvSpPr>
        <p:spPr bwMode="auto">
          <a:xfrm>
            <a:off x="731520" y="1463040"/>
            <a:ext cx="5212080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2860159" name="TextBox 5"/>
          <p:cNvSpPr txBox="1"/>
          <p:nvPr/>
        </p:nvSpPr>
        <p:spPr bwMode="auto">
          <a:xfrm>
            <a:off x="96012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Environment Setup &amp; Execution Commands</a:t>
            </a:r>
            <a:endParaRPr/>
          </a:p>
        </p:txBody>
      </p:sp>
      <p:sp>
        <p:nvSpPr>
          <p:cNvPr id="1012701524" name="TextBox 6"/>
          <p:cNvSpPr txBox="1"/>
          <p:nvPr/>
        </p:nvSpPr>
        <p:spPr bwMode="auto">
          <a:xfrm>
            <a:off x="960120" y="2103120"/>
            <a:ext cx="4755240" cy="2116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A0F1D"/>
                </a:solidFill>
              </a:defRPr>
            </a:pPr>
            <a:r>
              <a:rPr/>
              <a:t>Core Technology Stack:</a:t>
            </a:r>
            <a:endParaRPr/>
          </a:p>
          <a:p>
            <a:pPr>
              <a:spcAft>
                <a:spcPts val="6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NetworkX: Directed Acyclic Graph topology and traversal.</a:t>
            </a:r>
            <a:endParaRPr/>
          </a:p>
          <a:p>
            <a:pPr>
              <a:spcAft>
                <a:spcPts val="6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Streamlit: Real-time interactive operational dashboard.</a:t>
            </a:r>
            <a:endParaRPr/>
          </a:p>
          <a:p>
            <a:pPr>
              <a:spcAft>
                <a:spcPts val="6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Plotly: Latency waterfalls &amp; MTTR benchmark visualization.</a:t>
            </a:r>
            <a:endParaRPr/>
          </a:p>
          <a:p>
            <a:pPr>
              <a:spcAft>
                <a:spcPts val="6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Python 3.10+ / PyYAML: Configuration and graph serialization.</a:t>
            </a:r>
            <a:endParaRPr/>
          </a:p>
          <a:p>
            <a:pPr>
              <a:spcBef>
                <a:spcPts val="1000"/>
              </a:spcBef>
              <a:spcAft>
                <a:spcPts val="600"/>
              </a:spcAft>
              <a:defRPr sz="1600" b="1">
                <a:solidFill>
                  <a:srgbClr val="0369A1"/>
                </a:solidFill>
              </a:defRPr>
            </a:pPr>
            <a:endParaRPr/>
          </a:p>
        </p:txBody>
      </p:sp>
      <p:sp>
        <p:nvSpPr>
          <p:cNvPr id="951838147" name="Rounded Rectangle 8"/>
          <p:cNvSpPr/>
          <p:nvPr/>
        </p:nvSpPr>
        <p:spPr bwMode="auto">
          <a:xfrm>
            <a:off x="6245352" y="1463040"/>
            <a:ext cx="5212080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3289067" name="TextBox 9"/>
          <p:cNvSpPr txBox="1"/>
          <p:nvPr/>
        </p:nvSpPr>
        <p:spPr bwMode="auto">
          <a:xfrm>
            <a:off x="6473952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4-Stage Implementation Lifecycle</a:t>
            </a:r>
            <a:endParaRPr/>
          </a:p>
        </p:txBody>
      </p:sp>
      <p:sp>
        <p:nvSpPr>
          <p:cNvPr id="252348704" name="TextBox 10"/>
          <p:cNvSpPr txBox="1"/>
          <p:nvPr/>
        </p:nvSpPr>
        <p:spPr bwMode="auto">
          <a:xfrm>
            <a:off x="6473952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50" b="1">
                <a:solidFill>
                  <a:srgbClr val="0A0F1D"/>
                </a:solidFill>
              </a:defRPr>
            </a:pPr>
            <a:r>
              <a:rPr/>
              <a:t>• Phase 1: Seed Graph Initialization</a:t>
            </a:r>
            <a:endParaRPr/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/>
              <a:t>  Inject baseline 5-stage microservice topology (Frontend -&gt; Gateway -&gt; Order -&gt; Payment -&gt; DB).</a:t>
            </a:r>
            <a:endParaRPr/>
          </a:p>
          <a:p>
            <a:pPr>
              <a:spcAft>
                <a:spcPts val="200"/>
              </a:spcAft>
              <a:defRPr sz="1550" b="1">
                <a:solidFill>
                  <a:srgbClr val="0A0F1D"/>
                </a:solidFill>
              </a:defRPr>
            </a:pPr>
            <a:r>
              <a:rPr/>
              <a:t>• Phase 2: Synthetic Outage Injection</a:t>
            </a:r>
            <a:endParaRPr/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/>
              <a:t>  Trigger Payment Gateway timeout and Database connection pool starvation scenarios.</a:t>
            </a:r>
            <a:endParaRPr/>
          </a:p>
          <a:p>
            <a:pPr>
              <a:spcAft>
                <a:spcPts val="200"/>
              </a:spcAft>
              <a:defRPr sz="1550" b="1">
                <a:solidFill>
                  <a:srgbClr val="0A0F1D"/>
                </a:solidFill>
              </a:defRPr>
            </a:pPr>
            <a:r>
              <a:rPr/>
              <a:t>• Phase 3: Diagnostic Traversal &amp; Healing</a:t>
            </a:r>
            <a:endParaRPr/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/>
              <a:t>  Execute priority probes, isolate the root cause, and dispatch 1-click remediation runbooks.</a:t>
            </a:r>
            <a:endParaRPr/>
          </a:p>
          <a:p>
            <a:pPr>
              <a:spcAft>
                <a:spcPts val="200"/>
              </a:spcAft>
              <a:defRPr sz="1550" b="1">
                <a:solidFill>
                  <a:srgbClr val="0A0F1D"/>
                </a:solidFill>
              </a:defRPr>
            </a:pPr>
            <a:r>
              <a:rPr/>
              <a:t>• Phase 4: Safety-Gated Graph Evolution</a:t>
            </a:r>
            <a:endParaRPr/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/>
              <a:t>  Mutate graph topology based on postmortem info gain; verify safety gate, and persist v1.0.1.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878989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07. SYSTEM ARCHITECTURE</a:t>
            </a:r>
            <a:endParaRPr/>
          </a:p>
        </p:txBody>
      </p:sp>
      <p:sp>
        <p:nvSpPr>
          <p:cNvPr id="1778518155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System Architecture &amp; Tiered Pipeline Diagram</a:t>
            </a:r>
            <a:endParaRPr/>
          </a:p>
        </p:txBody>
      </p:sp>
      <p:sp>
        <p:nvSpPr>
          <p:cNvPr id="646202383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16762942" name="Picture 4" descr="cloud_architecture_diagram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1520" y="1371600"/>
            <a:ext cx="10728654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620390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08. DASHBOARD OUTPUT (PART 1)</a:t>
            </a:r>
            <a:endParaRPr/>
          </a:p>
        </p:txBody>
      </p:sp>
      <p:sp>
        <p:nvSpPr>
          <p:cNvPr id="1415169648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Demonstration: Microservice Pipeline &amp; Diagnostic Graph</a:t>
            </a:r>
            <a:endParaRPr/>
          </a:p>
        </p:txBody>
      </p:sp>
      <p:sp>
        <p:nvSpPr>
          <p:cNvPr id="766866970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4929859" name="Rounded Rectangle 4"/>
          <p:cNvSpPr/>
          <p:nvPr/>
        </p:nvSpPr>
        <p:spPr bwMode="auto">
          <a:xfrm>
            <a:off x="731520" y="1463040"/>
            <a:ext cx="5212080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2435375" name="TextBox 5"/>
          <p:cNvSpPr txBox="1"/>
          <p:nvPr/>
        </p:nvSpPr>
        <p:spPr bwMode="auto">
          <a:xfrm>
            <a:off x="96012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1. Microservice Pipeline &amp; System Status</a:t>
            </a:r>
            <a:endParaRPr/>
          </a:p>
        </p:txBody>
      </p:sp>
      <p:pic>
        <p:nvPicPr>
          <p:cNvPr id="1780018902" name="Picture 6" descr="media_179035289116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2103120"/>
            <a:ext cx="4846320" cy="2468880"/>
          </a:xfrm>
          <a:prstGeom prst="rect">
            <a:avLst/>
          </a:prstGeom>
        </p:spPr>
      </p:pic>
      <p:sp>
        <p:nvSpPr>
          <p:cNvPr id="212267595" name="TextBox 7"/>
          <p:cNvSpPr txBox="1"/>
          <p:nvPr/>
        </p:nvSpPr>
        <p:spPr bwMode="auto">
          <a:xfrm>
            <a:off x="96012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</a:defRPr>
            </a:pPr>
            <a:r>
              <a:rPr/>
              <a:t>• Displays live KPI status indicators: Graph Version v1.0.0, 10 Active Nodes, and Safety Gate APPROVED.</a:t>
            </a:r>
            <a:endParaRPr/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/>
              <a:t>• Visualizes the 5-stage E-Commerce payment microservice request pipeline (Frontend -&gt; Gateway -&gt; Order -&gt; Payment API -&gt; Database).</a:t>
            </a:r>
            <a:endParaRPr/>
          </a:p>
        </p:txBody>
      </p:sp>
      <p:sp>
        <p:nvSpPr>
          <p:cNvPr id="942942694" name="Rounded Rectangle 8"/>
          <p:cNvSpPr/>
          <p:nvPr/>
        </p:nvSpPr>
        <p:spPr bwMode="auto">
          <a:xfrm>
            <a:off x="6245352" y="1463040"/>
            <a:ext cx="5212080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9814736" name="TextBox 9"/>
          <p:cNvSpPr txBox="1"/>
          <p:nvPr/>
        </p:nvSpPr>
        <p:spPr bwMode="auto">
          <a:xfrm>
            <a:off x="6473952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2. Interactive Reasoning Graph (NetworkX Map)</a:t>
            </a:r>
            <a:endParaRPr/>
          </a:p>
        </p:txBody>
      </p:sp>
      <p:pic>
        <p:nvPicPr>
          <p:cNvPr id="766785868" name="Picture 10" descr="media_1790352914348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28232" y="2103120"/>
            <a:ext cx="4846320" cy="2468880"/>
          </a:xfrm>
          <a:prstGeom prst="rect">
            <a:avLst/>
          </a:prstGeom>
        </p:spPr>
      </p:pic>
      <p:sp>
        <p:nvSpPr>
          <p:cNvPr id="1591793997" name="TextBox 11"/>
          <p:cNvSpPr txBox="1"/>
          <p:nvPr/>
        </p:nvSpPr>
        <p:spPr bwMode="auto">
          <a:xfrm>
            <a:off x="6473952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</a:defRPr>
            </a:pPr>
            <a:r>
              <a:rPr/>
              <a:t>• Renders the baseline diagnostic graph map using interactive NetworkX physics simulation.</a:t>
            </a:r>
            <a:endParaRPr/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/>
              <a:t>• Color-codes diagnostic nodes: Entry Triggers (Blue), Metric Probes (Purple), and Automated Remediation Actions (Green).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881031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09. DASHBOARD OUTPUT (PART 2)</a:t>
            </a:r>
            <a:endParaRPr/>
          </a:p>
        </p:txBody>
      </p:sp>
      <p:sp>
        <p:nvSpPr>
          <p:cNvPr id="1686115946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Demonstration: Knowledge Catalogue, Waterfall &amp; Command</a:t>
            </a:r>
            <a:endParaRPr/>
          </a:p>
        </p:txBody>
      </p:sp>
      <p:sp>
        <p:nvSpPr>
          <p:cNvPr id="521234033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4257012" name="Rounded Rectangle 4"/>
          <p:cNvSpPr/>
          <p:nvPr/>
        </p:nvSpPr>
        <p:spPr bwMode="auto">
          <a:xfrm>
            <a:off x="7315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2542884" name="TextBox 5"/>
          <p:cNvSpPr txBox="1"/>
          <p:nvPr/>
        </p:nvSpPr>
        <p:spPr bwMode="auto">
          <a:xfrm>
            <a:off x="9601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3. Knowledge Catalogue</a:t>
            </a:r>
            <a:endParaRPr/>
          </a:p>
        </p:txBody>
      </p:sp>
      <p:pic>
        <p:nvPicPr>
          <p:cNvPr id="389433306" name="Picture 6" descr="media_179035293490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8680" y="2103120"/>
            <a:ext cx="3127248" cy="2331720"/>
          </a:xfrm>
          <a:prstGeom prst="rect">
            <a:avLst/>
          </a:prstGeom>
        </p:spPr>
      </p:pic>
      <p:sp>
        <p:nvSpPr>
          <p:cNvPr id="2000149234" name="TextBox 7"/>
          <p:cNvSpPr txBox="1"/>
          <p:nvPr/>
        </p:nvSpPr>
        <p:spPr bwMode="auto">
          <a:xfrm>
            <a:off x="896112" y="4526280"/>
            <a:ext cx="30723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rPr/>
              <a:t>• Granular node catalogue.</a:t>
            </a:r>
            <a:endParaRPr/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rPr/>
              <a:t>• Displays execution cost &amp; latency weights for each probe.</a:t>
            </a:r>
            <a:endParaRPr/>
          </a:p>
        </p:txBody>
      </p:sp>
      <p:sp>
        <p:nvSpPr>
          <p:cNvPr id="363405985" name="Rounded Rectangle 8"/>
          <p:cNvSpPr/>
          <p:nvPr/>
        </p:nvSpPr>
        <p:spPr bwMode="auto">
          <a:xfrm>
            <a:off x="43891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9809317" name="TextBox 9"/>
          <p:cNvSpPr txBox="1"/>
          <p:nvPr/>
        </p:nvSpPr>
        <p:spPr bwMode="auto">
          <a:xfrm>
            <a:off x="46177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4. Latency Waterfall</a:t>
            </a:r>
            <a:endParaRPr/>
          </a:p>
        </p:txBody>
      </p:sp>
      <p:pic>
        <p:nvPicPr>
          <p:cNvPr id="967542442" name="Picture 10" descr="media_1790352961695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26280" y="2103120"/>
            <a:ext cx="3127248" cy="2331720"/>
          </a:xfrm>
          <a:prstGeom prst="rect">
            <a:avLst/>
          </a:prstGeom>
        </p:spPr>
      </p:pic>
      <p:sp>
        <p:nvSpPr>
          <p:cNvPr id="669964291" name="TextBox 11"/>
          <p:cNvSpPr txBox="1"/>
          <p:nvPr/>
        </p:nvSpPr>
        <p:spPr bwMode="auto">
          <a:xfrm>
            <a:off x="4553712" y="4526280"/>
            <a:ext cx="30723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rPr/>
              <a:t>• Plotly MTTR waterfall.</a:t>
            </a:r>
            <a:endParaRPr/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rPr/>
              <a:t>• Proves 10.9% diagnostic speedup after self-evolution.</a:t>
            </a:r>
            <a:endParaRPr/>
          </a:p>
        </p:txBody>
      </p:sp>
      <p:sp>
        <p:nvSpPr>
          <p:cNvPr id="1208167493" name="Rounded Rectangle 12"/>
          <p:cNvSpPr/>
          <p:nvPr/>
        </p:nvSpPr>
        <p:spPr bwMode="auto">
          <a:xfrm>
            <a:off x="80467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9724693" name="TextBox 13"/>
          <p:cNvSpPr txBox="1"/>
          <p:nvPr/>
        </p:nvSpPr>
        <p:spPr bwMode="auto">
          <a:xfrm>
            <a:off x="82753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5. Command Center</a:t>
            </a:r>
            <a:endParaRPr/>
          </a:p>
        </p:txBody>
      </p:sp>
      <p:pic>
        <p:nvPicPr>
          <p:cNvPr id="1543584719" name="Picture 14" descr="media_1790353001260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83880" y="2103120"/>
            <a:ext cx="3127248" cy="2331720"/>
          </a:xfrm>
          <a:prstGeom prst="rect">
            <a:avLst/>
          </a:prstGeom>
        </p:spPr>
      </p:pic>
      <p:sp>
        <p:nvSpPr>
          <p:cNvPr id="2107023250" name="TextBox 15"/>
          <p:cNvSpPr txBox="1"/>
          <p:nvPr/>
        </p:nvSpPr>
        <p:spPr bwMode="auto">
          <a:xfrm>
            <a:off x="8211312" y="4526280"/>
            <a:ext cx="30723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rPr/>
              <a:t>• 1-Click mitigation center.</a:t>
            </a:r>
            <a:endParaRPr/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rPr/>
              <a:t>• Dispatches safety-verified runbooks to live microservices.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665801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10. EXPERIMENTAL VALIDATION</a:t>
            </a:r>
            <a:endParaRPr/>
          </a:p>
        </p:txBody>
      </p:sp>
      <p:sp>
        <p:nvSpPr>
          <p:cNvPr id="891187925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Experimental Results: Quantitative System Performance</a:t>
            </a:r>
            <a:endParaRPr/>
          </a:p>
        </p:txBody>
      </p:sp>
      <p:sp>
        <p:nvSpPr>
          <p:cNvPr id="1245473046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2637500" name="Rounded Rectangle 4"/>
          <p:cNvSpPr/>
          <p:nvPr/>
        </p:nvSpPr>
        <p:spPr bwMode="auto">
          <a:xfrm>
            <a:off x="7315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886978" name="Rectangle 5"/>
          <p:cNvSpPr/>
          <p:nvPr/>
        </p:nvSpPr>
        <p:spPr bwMode="auto">
          <a:xfrm>
            <a:off x="914400" y="1572768"/>
            <a:ext cx="3035808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8529542" name="TextBox 6"/>
          <p:cNvSpPr txBox="1"/>
          <p:nvPr/>
        </p:nvSpPr>
        <p:spPr bwMode="auto">
          <a:xfrm>
            <a:off x="914400" y="1828800"/>
            <a:ext cx="30358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369A1"/>
                </a:solidFill>
              </a:defRPr>
            </a:pPr>
            <a:r>
              <a:rPr/>
              <a:t>10.9% Faster MTTR</a:t>
            </a:r>
            <a:endParaRPr/>
          </a:p>
          <a:p>
            <a:pPr algn="ctr">
              <a:spcBef>
                <a:spcPts val="400"/>
              </a:spcBef>
              <a:defRPr sz="1500" b="1">
                <a:solidFill>
                  <a:srgbClr val="0A0F1D"/>
                </a:solidFill>
              </a:defRPr>
            </a:pPr>
            <a:r>
              <a:rPr/>
              <a:t>Mean Time to Resolution Speedup</a:t>
            </a:r>
            <a:endParaRPr/>
          </a:p>
        </p:txBody>
      </p:sp>
      <p:sp>
        <p:nvSpPr>
          <p:cNvPr id="289780421" name="TextBox 7"/>
          <p:cNvSpPr txBox="1"/>
          <p:nvPr/>
        </p:nvSpPr>
        <p:spPr bwMode="auto">
          <a:xfrm>
            <a:off x="960120" y="3154680"/>
            <a:ext cx="29443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Baseline Diagnostic MTTR: 27.5 seconds</a:t>
            </a:r>
            <a:endParaRPr/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Self-Evolved Graph MTTR: 24.5 seconds</a:t>
            </a:r>
            <a:endParaRPr/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3.0 seconds saved per outage via information-gain probe reordering.</a:t>
            </a:r>
            <a:endParaRPr/>
          </a:p>
        </p:txBody>
      </p:sp>
      <p:sp>
        <p:nvSpPr>
          <p:cNvPr id="1547685979" name="Rounded Rectangle 8"/>
          <p:cNvSpPr/>
          <p:nvPr/>
        </p:nvSpPr>
        <p:spPr bwMode="auto">
          <a:xfrm>
            <a:off x="43891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3174934" name="Rectangle 9"/>
          <p:cNvSpPr/>
          <p:nvPr/>
        </p:nvSpPr>
        <p:spPr bwMode="auto">
          <a:xfrm>
            <a:off x="4572000" y="1572768"/>
            <a:ext cx="303580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43180" name="TextBox 10"/>
          <p:cNvSpPr txBox="1"/>
          <p:nvPr/>
        </p:nvSpPr>
        <p:spPr bwMode="auto">
          <a:xfrm>
            <a:off x="4572000" y="1828800"/>
            <a:ext cx="30358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rPr/>
              <a:t>30% Node Pruning</a:t>
            </a:r>
            <a:endParaRPr/>
          </a:p>
          <a:p>
            <a:pPr algn="ctr">
              <a:spcBef>
                <a:spcPts val="400"/>
              </a:spcBef>
              <a:defRPr sz="1500" b="1">
                <a:solidFill>
                  <a:srgbClr val="0A0F1D"/>
                </a:solidFill>
              </a:defRPr>
            </a:pPr>
            <a:r>
              <a:rPr/>
              <a:t>Search Space Reduction</a:t>
            </a:r>
            <a:endParaRPr/>
          </a:p>
        </p:txBody>
      </p:sp>
      <p:sp>
        <p:nvSpPr>
          <p:cNvPr id="579294889" name="TextBox 11"/>
          <p:cNvSpPr txBox="1"/>
          <p:nvPr/>
        </p:nvSpPr>
        <p:spPr bwMode="auto">
          <a:xfrm>
            <a:off x="4617720" y="3154680"/>
            <a:ext cx="29443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Active Diagnostic Nodes reduced from 10 to 7.</a:t>
            </a:r>
            <a:endParaRPr/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Redundant metric checks automatically eliminated.</a:t>
            </a:r>
            <a:endParaRPr/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100% root-cause identification recall preserved.</a:t>
            </a:r>
            <a:endParaRPr/>
          </a:p>
        </p:txBody>
      </p:sp>
      <p:sp>
        <p:nvSpPr>
          <p:cNvPr id="490577603" name="Rounded Rectangle 12"/>
          <p:cNvSpPr/>
          <p:nvPr/>
        </p:nvSpPr>
        <p:spPr bwMode="auto">
          <a:xfrm>
            <a:off x="80467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8724570" name="Rectangle 13"/>
          <p:cNvSpPr/>
          <p:nvPr/>
        </p:nvSpPr>
        <p:spPr bwMode="auto">
          <a:xfrm>
            <a:off x="8229600" y="1572768"/>
            <a:ext cx="3035808" cy="54864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0674952" name="TextBox 14"/>
          <p:cNvSpPr txBox="1"/>
          <p:nvPr/>
        </p:nvSpPr>
        <p:spPr bwMode="auto">
          <a:xfrm>
            <a:off x="8229600" y="1828800"/>
            <a:ext cx="30358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0F1D"/>
                </a:solidFill>
              </a:defRPr>
            </a:pPr>
            <a:r>
              <a:rPr/>
              <a:t>100% Safety Pass</a:t>
            </a:r>
            <a:endParaRPr/>
          </a:p>
          <a:p>
            <a:pPr algn="ctr">
              <a:spcBef>
                <a:spcPts val="400"/>
              </a:spcBef>
              <a:defRPr sz="1500" b="1">
                <a:solidFill>
                  <a:srgbClr val="0A0F1D"/>
                </a:solidFill>
              </a:defRPr>
            </a:pPr>
            <a:r>
              <a:rPr/>
              <a:t>Zero Unsafe Regression Rate</a:t>
            </a:r>
            <a:endParaRPr/>
          </a:p>
        </p:txBody>
      </p:sp>
      <p:sp>
        <p:nvSpPr>
          <p:cNvPr id="1941425433" name="TextBox 15"/>
          <p:cNvSpPr txBox="1"/>
          <p:nvPr/>
        </p:nvSpPr>
        <p:spPr bwMode="auto">
          <a:xfrm>
            <a:off x="8275320" y="3154680"/>
            <a:ext cx="29443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0 unsafe mutations allowed into production.</a:t>
            </a:r>
            <a:endParaRPr/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100% adherence to DAG acyclicity verification.</a:t>
            </a:r>
            <a:endParaRPr/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rPr/>
              <a:t>• Sub-millisecond verification overhead (&lt; 0.003s).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773584" name="TextBox 1"/>
          <p:cNvSpPr txBox="1"/>
          <p:nvPr/>
        </p:nvSpPr>
        <p:spPr bwMode="auto">
          <a:xfrm>
            <a:off x="731520" y="256032"/>
            <a:ext cx="1072865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/>
              <a:t>11. CONCLUSION</a:t>
            </a:r>
            <a:endParaRPr/>
          </a:p>
        </p:txBody>
      </p:sp>
      <p:sp>
        <p:nvSpPr>
          <p:cNvPr id="1961017294" name="TextBox 2"/>
          <p:cNvSpPr txBox="1"/>
          <p:nvPr/>
        </p:nvSpPr>
        <p:spPr bwMode="auto">
          <a:xfrm>
            <a:off x="731520" y="530352"/>
            <a:ext cx="1072865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F1D"/>
                </a:solidFill>
              </a:defRPr>
            </a:pPr>
            <a:r>
              <a:rPr/>
              <a:t>Conclusion &amp; Real-World Engineering Impact</a:t>
            </a:r>
            <a:endParaRPr/>
          </a:p>
        </p:txBody>
      </p:sp>
      <p:sp>
        <p:nvSpPr>
          <p:cNvPr id="810974115" name="Rectangle 3"/>
          <p:cNvSpPr/>
          <p:nvPr/>
        </p:nvSpPr>
        <p:spPr bwMode="auto">
          <a:xfrm>
            <a:off x="731520" y="1234440"/>
            <a:ext cx="10728654" cy="2286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1328318" name="Rounded Rectangle 4"/>
          <p:cNvSpPr/>
          <p:nvPr/>
        </p:nvSpPr>
        <p:spPr bwMode="auto">
          <a:xfrm>
            <a:off x="7315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4872097" name="TextBox 5"/>
          <p:cNvSpPr txBox="1"/>
          <p:nvPr/>
        </p:nvSpPr>
        <p:spPr bwMode="auto">
          <a:xfrm>
            <a:off x="9601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1. Autonomous Cloud Reliability</a:t>
            </a:r>
            <a:endParaRPr/>
          </a:p>
        </p:txBody>
      </p:sp>
      <p:sp>
        <p:nvSpPr>
          <p:cNvPr id="1642990312" name="Rectangle 6"/>
          <p:cNvSpPr/>
          <p:nvPr/>
        </p:nvSpPr>
        <p:spPr bwMode="auto">
          <a:xfrm>
            <a:off x="914400" y="1572768"/>
            <a:ext cx="3035808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2806134" name="TextBox 7"/>
          <p:cNvSpPr txBox="1"/>
          <p:nvPr/>
        </p:nvSpPr>
        <p:spPr bwMode="auto">
          <a:xfrm>
            <a:off x="960120" y="2148840"/>
            <a:ext cx="294436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A0F1D"/>
                </a:solidFill>
              </a:defRPr>
            </a:pPr>
            <a:r>
              <a:rPr/>
              <a:t>Replaces fragile human checklists and uncontrollable black-box AI with safe, self-improving causal graph reasoning.</a:t>
            </a:r>
            <a:endParaRPr/>
          </a:p>
          <a:p>
            <a:pPr>
              <a:spcAft>
                <a:spcPts val="12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Bridges the critical gap between static manual runbooks and autonomous self-healing cloud operations.</a:t>
            </a:r>
            <a:endParaRPr/>
          </a:p>
          <a:p>
            <a:pPr>
              <a:spcAft>
                <a:spcPts val="12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Empowers SREs with fully explainable diagnostic paths instead of inscrutable neural network predictions.</a:t>
            </a:r>
            <a:endParaRPr/>
          </a:p>
        </p:txBody>
      </p:sp>
      <p:sp>
        <p:nvSpPr>
          <p:cNvPr id="130769998" name="Rounded Rectangle 8"/>
          <p:cNvSpPr/>
          <p:nvPr/>
        </p:nvSpPr>
        <p:spPr bwMode="auto">
          <a:xfrm>
            <a:off x="43891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8000899" name="TextBox 9"/>
          <p:cNvSpPr txBox="1"/>
          <p:nvPr/>
        </p:nvSpPr>
        <p:spPr bwMode="auto">
          <a:xfrm>
            <a:off x="46177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2. Production Safety Verification</a:t>
            </a:r>
            <a:endParaRPr/>
          </a:p>
        </p:txBody>
      </p:sp>
      <p:sp>
        <p:nvSpPr>
          <p:cNvPr id="912356735" name="Rectangle 10"/>
          <p:cNvSpPr/>
          <p:nvPr/>
        </p:nvSpPr>
        <p:spPr bwMode="auto">
          <a:xfrm>
            <a:off x="4572000" y="1572768"/>
            <a:ext cx="303580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7272119" name="TextBox 11"/>
          <p:cNvSpPr txBox="1"/>
          <p:nvPr/>
        </p:nvSpPr>
        <p:spPr bwMode="auto">
          <a:xfrm>
            <a:off x="4617720" y="2148840"/>
            <a:ext cx="294436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A0F1D"/>
                </a:solidFill>
              </a:defRPr>
            </a:pPr>
            <a:r>
              <a:rPr/>
              <a:t>Eliminates fear of autonomous mitigation through mathematical safety gates and regression replays.</a:t>
            </a:r>
            <a:endParaRPr/>
          </a:p>
          <a:p>
            <a:pPr>
              <a:spcAft>
                <a:spcPts val="12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Guarantees zero cascading failure propagation across distributed microservices.</a:t>
            </a:r>
            <a:endParaRPr/>
          </a:p>
          <a:p>
            <a:pPr>
              <a:spcAft>
                <a:spcPts val="12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Verifies structural DAG acyclicity and historical incident benchmarks in less than 3 milliseconds.</a:t>
            </a:r>
            <a:endParaRPr/>
          </a:p>
        </p:txBody>
      </p:sp>
      <p:sp>
        <p:nvSpPr>
          <p:cNvPr id="1958068739" name="Rounded Rectangle 12"/>
          <p:cNvSpPr/>
          <p:nvPr/>
        </p:nvSpPr>
        <p:spPr bwMode="auto">
          <a:xfrm>
            <a:off x="8046720" y="1463040"/>
            <a:ext cx="3401568" cy="4892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969082" name="TextBox 13"/>
          <p:cNvSpPr txBox="1"/>
          <p:nvPr/>
        </p:nvSpPr>
        <p:spPr bwMode="auto">
          <a:xfrm>
            <a:off x="8275320" y="1645920"/>
            <a:ext cx="2944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F1D"/>
                </a:solidFill>
              </a:defRPr>
            </a:pPr>
            <a:r>
              <a:rPr/>
              <a:t>3. Measurable SRE Value</a:t>
            </a:r>
            <a:endParaRPr/>
          </a:p>
        </p:txBody>
      </p:sp>
      <p:sp>
        <p:nvSpPr>
          <p:cNvPr id="1317239009" name="Rectangle 14"/>
          <p:cNvSpPr/>
          <p:nvPr/>
        </p:nvSpPr>
        <p:spPr bwMode="auto">
          <a:xfrm>
            <a:off x="8229600" y="1572768"/>
            <a:ext cx="3035808" cy="54864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0829124" name="TextBox 15"/>
          <p:cNvSpPr txBox="1"/>
          <p:nvPr/>
        </p:nvSpPr>
        <p:spPr bwMode="auto">
          <a:xfrm>
            <a:off x="8275320" y="2148840"/>
            <a:ext cx="294436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A0F1D"/>
                </a:solidFill>
              </a:defRPr>
            </a:pPr>
            <a:r>
              <a:rPr/>
              <a:t>Delivers immediate business impact by slashing downtime costs and eliminating midnight alert fatigue.</a:t>
            </a:r>
            <a:endParaRPr/>
          </a:p>
          <a:p>
            <a:pPr>
              <a:spcAft>
                <a:spcPts val="12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Achieved 10.9% faster MTTR and 30% diagnostic search space reduction on live cloud scenarios.</a:t>
            </a:r>
            <a:endParaRPr/>
          </a:p>
          <a:p>
            <a:pPr>
              <a:spcAft>
                <a:spcPts val="1200"/>
              </a:spcAft>
              <a:defRPr sz="1450">
                <a:solidFill>
                  <a:srgbClr val="0F172A"/>
                </a:solidFill>
              </a:defRPr>
            </a:pPr>
            <a:r>
              <a:rPr/>
              <a:t>• Continuous closed-loop learning ensures the system becomes smarter and faster after every incident.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4</cp:revision>
  <dcterms:created xsi:type="dcterms:W3CDTF">2013-01-27T09:14:16Z</dcterms:created>
  <dcterms:modified xsi:type="dcterms:W3CDTF">2026-09-26T07:39:34Z</dcterms:modified>
  <cp:category/>
</cp:coreProperties>
</file>